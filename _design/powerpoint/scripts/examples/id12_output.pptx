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3A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164592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5B078"/>
                </a:solidFill>
                <a:latin typeface="Inter"/>
              </a:rPr>
              <a:t>GRE SELF-STUDY COURSE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1920240"/>
            <a:ext cx="73152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400" b="1">
                <a:solidFill>
                  <a:srgbClr val="FFFFFF"/>
                </a:solidFill>
                <a:latin typeface="Inter"/>
              </a:rPr>
              <a:t>Integers &amp;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2423160"/>
            <a:ext cx="73152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400" b="1">
                <a:solidFill>
                  <a:srgbClr val="15B078"/>
                </a:solidFill>
                <a:latin typeface="Inter"/>
              </a:rPr>
              <a:t>of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301752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9B9B9B"/>
                </a:solidFill>
                <a:latin typeface="Inter"/>
              </a:rPr>
              <a:t>Master the rules. Stop the careless errors.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137160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5B078"/>
                </a:solidFill>
                <a:latin typeface="Inter"/>
              </a:rPr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1737360"/>
            <a:ext cx="66751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000000"/>
                </a:solidFill>
                <a:latin typeface="Inter"/>
              </a:rPr>
              <a:t>Arithmetic errors are the </a:t>
            </a:r>
            <a:r>
              <a:rPr sz="3600" b="1">
                <a:solidFill>
                  <a:srgbClr val="FB5A42"/>
                </a:solidFill>
                <a:latin typeface="Inter"/>
              </a:rPr>
              <a:t>#1 reason</a:t>
            </a:r>
            <a:r>
              <a:rPr sz="3600" b="1">
                <a:solidFill>
                  <a:srgbClr val="000000"/>
                </a:solidFill>
                <a:latin typeface="Inter"/>
              </a:rPr>
              <a:t> students lose points they shouldn't on the GRE.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3108960"/>
            <a:ext cx="66751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707070"/>
                </a:solidFill>
                <a:latin typeface="Inter"/>
              </a:rPr>
              <a:t>Not because the math is hard, but because under pressure, signs get flipped and operations get done in the wrong order.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B0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Part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148840"/>
            <a:ext cx="9144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800" b="1">
                <a:solidFill>
                  <a:srgbClr val="FFFFFF"/>
                </a:solidFill>
                <a:latin typeface="Inter"/>
              </a:rPr>
              <a:t>Signed Number Rules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530352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5B078"/>
                </a:solidFill>
                <a:latin typeface="Inter"/>
              </a:rPr>
              <a:t>SIGNED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685800"/>
            <a:ext cx="5486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000000"/>
                </a:solidFill>
                <a:latin typeface="Inter"/>
              </a:rPr>
              <a:t>Addition Rules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" y="1280160"/>
            <a:ext cx="3698748" cy="320040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463040"/>
            <a:ext cx="3241548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5B078"/>
                </a:solidFill>
                <a:latin typeface="Inter"/>
              </a:rPr>
              <a:t>RULE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1737360"/>
            <a:ext cx="3241548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333333"/>
                </a:solidFill>
                <a:latin typeface="Inter"/>
              </a:rPr>
              <a:t>Same Signs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103120"/>
            <a:ext cx="3241548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707070"/>
                </a:solidFill>
                <a:latin typeface="Inter"/>
              </a:rPr>
              <a:t>Add the absolute values, keep the sign.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1832" y="2651760"/>
            <a:ext cx="3332988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724912"/>
            <a:ext cx="3150108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333333"/>
                </a:solidFill>
                <a:latin typeface="Consolas"/>
              </a:rPr>
              <a:t>6 + 3 = </a:t>
            </a:r>
            <a:r>
              <a:rPr sz="1600" b="1">
                <a:solidFill>
                  <a:srgbClr val="15B078"/>
                </a:solidFill>
                <a:latin typeface="Consolas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1832" y="3154680"/>
            <a:ext cx="3332988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3227832"/>
            <a:ext cx="3150108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333333"/>
                </a:solidFill>
                <a:latin typeface="Consolas"/>
              </a:rPr>
              <a:t>(</a:t>
            </a:r>
            <a:r>
              <a:rPr sz="1600" b="1">
                <a:solidFill>
                  <a:srgbClr val="FB5A42"/>
                </a:solidFill>
                <a:latin typeface="Consolas"/>
              </a:rPr>
              <a:t>-6</a:t>
            </a:r>
            <a:r>
              <a:rPr sz="1600" b="0">
                <a:solidFill>
                  <a:srgbClr val="333333"/>
                </a:solidFill>
                <a:latin typeface="Consolas"/>
              </a:rPr>
              <a:t>) + (</a:t>
            </a:r>
            <a:r>
              <a:rPr sz="1600" b="1">
                <a:solidFill>
                  <a:srgbClr val="FB5A42"/>
                </a:solidFill>
                <a:latin typeface="Consolas"/>
              </a:rPr>
              <a:t>-3</a:t>
            </a:r>
            <a:r>
              <a:rPr sz="1600" b="0">
                <a:solidFill>
                  <a:srgbClr val="333333"/>
                </a:solidFill>
                <a:latin typeface="Consolas"/>
              </a:rPr>
              <a:t>) = </a:t>
            </a:r>
            <a:r>
              <a:rPr sz="1600" b="1">
                <a:solidFill>
                  <a:srgbClr val="FB5A42"/>
                </a:solidFill>
                <a:latin typeface="Consolas"/>
              </a:rPr>
              <a:t>-9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86300" y="1280160"/>
            <a:ext cx="3698748" cy="320040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14900" y="1463040"/>
            <a:ext cx="3241548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5B078"/>
                </a:solidFill>
                <a:latin typeface="Inter"/>
              </a:rPr>
              <a:t>RULE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4900" y="1737360"/>
            <a:ext cx="3241548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333333"/>
                </a:solidFill>
                <a:latin typeface="Inter"/>
              </a:rPr>
              <a:t>Different Signs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4900" y="2103120"/>
            <a:ext cx="3241548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707070"/>
                </a:solidFill>
                <a:latin typeface="Inter"/>
              </a:rPr>
              <a:t>Subtract the smaller absolute value from larger. Keep the larger's sign.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69180" y="2651760"/>
            <a:ext cx="3332988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6340" y="2724912"/>
            <a:ext cx="3150108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333333"/>
                </a:solidFill>
                <a:latin typeface="Consolas"/>
              </a:rPr>
              <a:t>6 + (</a:t>
            </a:r>
            <a:r>
              <a:rPr sz="1600" b="1">
                <a:solidFill>
                  <a:srgbClr val="FB5A42"/>
                </a:solidFill>
                <a:latin typeface="Consolas"/>
              </a:rPr>
              <a:t>-3</a:t>
            </a:r>
            <a:r>
              <a:rPr sz="1600" b="0">
                <a:solidFill>
                  <a:srgbClr val="333333"/>
                </a:solidFill>
                <a:latin typeface="Consolas"/>
              </a:rPr>
              <a:t>) = </a:t>
            </a:r>
            <a:r>
              <a:rPr sz="1600" b="1">
                <a:solidFill>
                  <a:srgbClr val="15B078"/>
                </a:solidFill>
                <a:latin typeface="Consolas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69180" y="3154680"/>
            <a:ext cx="3332988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6340" y="3227832"/>
            <a:ext cx="3150108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333333"/>
                </a:solidFill>
                <a:latin typeface="Consolas"/>
              </a:rPr>
              <a:t>(</a:t>
            </a:r>
            <a:r>
              <a:rPr sz="1600" b="1">
                <a:solidFill>
                  <a:srgbClr val="FB5A42"/>
                </a:solidFill>
                <a:latin typeface="Consolas"/>
              </a:rPr>
              <a:t>-6</a:t>
            </a:r>
            <a:r>
              <a:rPr sz="1600" b="0">
                <a:solidFill>
                  <a:srgbClr val="333333"/>
                </a:solidFill>
                <a:latin typeface="Consolas"/>
              </a:rPr>
              <a:t>) + 3 = </a:t>
            </a:r>
            <a:r>
              <a:rPr sz="1600" b="1">
                <a:solidFill>
                  <a:srgbClr val="FB5A42"/>
                </a:solidFill>
                <a:latin typeface="Consolas"/>
              </a:rPr>
              <a:t>-3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B0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Part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148840"/>
            <a:ext cx="9144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800" b="1">
                <a:solidFill>
                  <a:srgbClr val="FFFFFF"/>
                </a:solidFill>
                <a:latin typeface="Inter"/>
              </a:rPr>
              <a:t>Order of Operations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B0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Part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148840"/>
            <a:ext cx="9144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800" b="1">
                <a:solidFill>
                  <a:srgbClr val="FFFFFF"/>
                </a:solidFill>
                <a:latin typeface="Inter"/>
              </a:rPr>
              <a:t>Worked Examples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530352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5B078"/>
                </a:solidFill>
                <a:latin typeface="Inter"/>
              </a:rPr>
              <a:t>EXAMPLE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685800"/>
            <a:ext cx="5486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00000"/>
                </a:solidFill>
                <a:latin typeface="Inter"/>
              </a:rPr>
              <a:t>Basic Signed Arithmetic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" y="1234440"/>
            <a:ext cx="36576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371600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9B9B9B"/>
                </a:solidFill>
                <a:latin typeface="Inter"/>
              </a:rP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1691640"/>
            <a:ext cx="3200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B5A42"/>
                </a:solidFill>
                <a:latin typeface="Consolas"/>
              </a:rPr>
              <a:t>-5</a:t>
            </a:r>
            <a:r>
              <a:rPr sz="2800" b="0">
                <a:solidFill>
                  <a:srgbClr val="333333"/>
                </a:solidFill>
                <a:latin typeface="Consolas"/>
              </a:rPr>
              <a:t> + (</a:t>
            </a:r>
            <a:r>
              <a:rPr sz="2800" b="1">
                <a:solidFill>
                  <a:srgbClr val="FB5A42"/>
                </a:solidFill>
                <a:latin typeface="Consolas"/>
              </a:rPr>
              <a:t>-6</a:t>
            </a:r>
            <a:r>
              <a:rPr sz="2800" b="0">
                <a:solidFill>
                  <a:srgbClr val="333333"/>
                </a:solidFill>
                <a:latin typeface="Consolas"/>
              </a:rPr>
              <a:t>) - 8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36592" y="1234440"/>
            <a:ext cx="1828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9B9B9B"/>
                </a:solidFill>
                <a:latin typeface="Inter"/>
              </a:rPr>
              <a:t>SOLUTION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36592" y="1554480"/>
            <a:ext cx="3648456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846320" y="1691640"/>
            <a:ext cx="228600" cy="228600"/>
          </a:xfrm>
          <a:prstGeom prst="ellipse">
            <a:avLst/>
          </a:prstGeom>
          <a:solidFill>
            <a:srgbClr val="15B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93792" y="1627632"/>
            <a:ext cx="3099816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333333"/>
                </a:solidFill>
                <a:latin typeface="Inter"/>
              </a:rPr>
              <a:t>Add same signs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93792" y="1847088"/>
            <a:ext cx="3099816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B5A42"/>
                </a:solidFill>
                <a:latin typeface="Consolas"/>
              </a:rPr>
              <a:t>-5</a:t>
            </a:r>
            <a:r>
              <a:rPr sz="1400" b="0">
                <a:solidFill>
                  <a:srgbClr val="707070"/>
                </a:solidFill>
                <a:latin typeface="Consolas"/>
              </a:rPr>
              <a:t> + (</a:t>
            </a:r>
            <a:r>
              <a:rPr sz="1400" b="1">
                <a:solidFill>
                  <a:srgbClr val="FB5A42"/>
                </a:solidFill>
                <a:latin typeface="Consolas"/>
              </a:rPr>
              <a:t>-6</a:t>
            </a:r>
            <a:r>
              <a:rPr sz="1400" b="0">
                <a:solidFill>
                  <a:srgbClr val="707070"/>
                </a:solidFill>
                <a:latin typeface="Consolas"/>
              </a:rPr>
              <a:t>) = </a:t>
            </a:r>
            <a:r>
              <a:rPr sz="1400" b="1">
                <a:solidFill>
                  <a:srgbClr val="FB5A42"/>
                </a:solidFill>
                <a:latin typeface="Consolas"/>
              </a:rPr>
              <a:t>-11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36592" y="2194560"/>
            <a:ext cx="3648456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46320" y="2331720"/>
            <a:ext cx="228600" cy="228600"/>
          </a:xfrm>
          <a:prstGeom prst="ellipse">
            <a:avLst/>
          </a:prstGeom>
          <a:solidFill>
            <a:srgbClr val="15B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93792" y="2267712"/>
            <a:ext cx="3099816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333333"/>
                </a:solidFill>
                <a:latin typeface="Inter"/>
              </a:rPr>
              <a:t>Convert subtraction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93792" y="2487168"/>
            <a:ext cx="3099816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B5A42"/>
                </a:solidFill>
                <a:latin typeface="Consolas"/>
              </a:rPr>
              <a:t>-11</a:t>
            </a:r>
            <a:r>
              <a:rPr sz="1400" b="0">
                <a:solidFill>
                  <a:srgbClr val="707070"/>
                </a:solidFill>
                <a:latin typeface="Consolas"/>
              </a:rPr>
              <a:t> - 8 = </a:t>
            </a:r>
            <a:r>
              <a:rPr sz="1400" b="1">
                <a:solidFill>
                  <a:srgbClr val="FB5A42"/>
                </a:solidFill>
                <a:latin typeface="Consolas"/>
              </a:rPr>
              <a:t>-11</a:t>
            </a:r>
            <a:r>
              <a:rPr sz="1400" b="0">
                <a:solidFill>
                  <a:srgbClr val="707070"/>
                </a:solidFill>
                <a:latin typeface="Consolas"/>
              </a:rPr>
              <a:t> + (</a:t>
            </a:r>
            <a:r>
              <a:rPr sz="1400" b="1">
                <a:solidFill>
                  <a:srgbClr val="FB5A42"/>
                </a:solidFill>
                <a:latin typeface="Consolas"/>
              </a:rPr>
              <a:t>-8</a:t>
            </a:r>
            <a:r>
              <a:rPr sz="1400" b="0">
                <a:solidFill>
                  <a:srgbClr val="707070"/>
                </a:solidFill>
                <a:latin typeface="Consolas"/>
              </a:rPr>
              <a:t>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36592" y="2834640"/>
            <a:ext cx="3648456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46320" y="2971800"/>
            <a:ext cx="228600" cy="228600"/>
          </a:xfrm>
          <a:prstGeom prst="ellipse">
            <a:avLst/>
          </a:prstGeom>
          <a:solidFill>
            <a:srgbClr val="15B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93792" y="2907792"/>
            <a:ext cx="3099816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333333"/>
                </a:solidFill>
                <a:latin typeface="Inter"/>
              </a:rPr>
              <a:t>Add same signs again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93792" y="3127248"/>
            <a:ext cx="3099816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B5A42"/>
                </a:solidFill>
                <a:latin typeface="Consolas"/>
              </a:rPr>
              <a:t>-11</a:t>
            </a:r>
            <a:r>
              <a:rPr sz="1400" b="0">
                <a:solidFill>
                  <a:srgbClr val="707070"/>
                </a:solidFill>
                <a:latin typeface="Consolas"/>
              </a:rPr>
              <a:t> + (</a:t>
            </a:r>
            <a:r>
              <a:rPr sz="1400" b="1">
                <a:solidFill>
                  <a:srgbClr val="FB5A42"/>
                </a:solidFill>
                <a:latin typeface="Consolas"/>
              </a:rPr>
              <a:t>-8</a:t>
            </a:r>
            <a:r>
              <a:rPr sz="1400" b="0">
                <a:solidFill>
                  <a:srgbClr val="707070"/>
                </a:solidFill>
                <a:latin typeface="Consolas"/>
              </a:rPr>
              <a:t>) = </a:t>
            </a:r>
            <a:r>
              <a:rPr sz="1400" b="1">
                <a:solidFill>
                  <a:srgbClr val="FB5A42"/>
                </a:solidFill>
                <a:latin typeface="Consolas"/>
              </a:rPr>
              <a:t>-19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36592" y="3566160"/>
            <a:ext cx="3648456" cy="457200"/>
          </a:xfrm>
          <a:prstGeom prst="roundRect">
            <a:avLst/>
          </a:prstGeom>
          <a:solidFill>
            <a:srgbClr val="15B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73752" y="3657600"/>
            <a:ext cx="3374136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Inter"/>
              </a:rPr>
              <a:t>Answer: </a:t>
            </a:r>
            <a:r>
              <a:rPr sz="1800" b="1">
                <a:solidFill>
                  <a:srgbClr val="FB5A42"/>
                </a:solidFill>
                <a:latin typeface="Inter"/>
              </a:rPr>
              <a:t>-19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530352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5B078"/>
                </a:solidFill>
                <a:latin typeface="Inter"/>
              </a:rPr>
              <a:t>EXAMPLE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685800"/>
            <a:ext cx="5486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00000"/>
                </a:solidFill>
                <a:latin typeface="Inter"/>
              </a:rPr>
              <a:t>Mixed Operations with Exponents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" y="1234440"/>
            <a:ext cx="36576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371600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9B9B9B"/>
                </a:solidFill>
                <a:latin typeface="Inter"/>
              </a:rP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1691640"/>
            <a:ext cx="3200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0">
                <a:solidFill>
                  <a:srgbClr val="333333"/>
                </a:solidFill>
                <a:latin typeface="Consolas"/>
              </a:rPr>
              <a:t>8 * 8^2 - 4 * 5^2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36592" y="1234440"/>
            <a:ext cx="1828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9B9B9B"/>
                </a:solidFill>
                <a:latin typeface="Inter"/>
              </a:rPr>
              <a:t>SOLUTION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36592" y="1554480"/>
            <a:ext cx="3648456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846320" y="1691640"/>
            <a:ext cx="228600" cy="228600"/>
          </a:xfrm>
          <a:prstGeom prst="ellipse">
            <a:avLst/>
          </a:prstGeom>
          <a:solidFill>
            <a:srgbClr val="15B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93792" y="1627632"/>
            <a:ext cx="3099816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333333"/>
                </a:solidFill>
                <a:latin typeface="Inter"/>
              </a:rPr>
              <a:t>Exponents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93792" y="1847088"/>
            <a:ext cx="3099816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707070"/>
                </a:solidFill>
                <a:latin typeface="Consolas"/>
              </a:rPr>
              <a:t>8 * 64 - 4 * 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36592" y="2194560"/>
            <a:ext cx="3648456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46320" y="2331720"/>
            <a:ext cx="228600" cy="228600"/>
          </a:xfrm>
          <a:prstGeom prst="ellipse">
            <a:avLst/>
          </a:prstGeom>
          <a:solidFill>
            <a:srgbClr val="15B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93792" y="2267712"/>
            <a:ext cx="3099816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333333"/>
                </a:solidFill>
                <a:latin typeface="Inter"/>
              </a:rPr>
              <a:t>Multiplication (left to right)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93792" y="2487168"/>
            <a:ext cx="3099816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707070"/>
                </a:solidFill>
                <a:latin typeface="Consolas"/>
              </a:rPr>
              <a:t>512 - 100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36592" y="2834640"/>
            <a:ext cx="3648456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46320" y="2971800"/>
            <a:ext cx="228600" cy="228600"/>
          </a:xfrm>
          <a:prstGeom prst="ellipse">
            <a:avLst/>
          </a:prstGeom>
          <a:solidFill>
            <a:srgbClr val="15B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93792" y="2907792"/>
            <a:ext cx="3099816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333333"/>
                </a:solidFill>
                <a:latin typeface="Inter"/>
              </a:rPr>
              <a:t>Subtraction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93792" y="3127248"/>
            <a:ext cx="3099816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707070"/>
                </a:solidFill>
                <a:latin typeface="Consolas"/>
              </a:rPr>
              <a:t>512 - 100 = </a:t>
            </a:r>
            <a:r>
              <a:rPr sz="1400" b="1">
                <a:solidFill>
                  <a:srgbClr val="15B078"/>
                </a:solidFill>
                <a:latin typeface="Consolas"/>
              </a:rPr>
              <a:t>412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36592" y="3566160"/>
            <a:ext cx="3648456" cy="457200"/>
          </a:xfrm>
          <a:prstGeom prst="roundRect">
            <a:avLst/>
          </a:prstGeom>
          <a:solidFill>
            <a:srgbClr val="15B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73752" y="3657600"/>
            <a:ext cx="3374136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Inter"/>
              </a:rPr>
              <a:t>Answer: </a:t>
            </a:r>
            <a:r>
              <a:rPr sz="1800" b="1">
                <a:solidFill>
                  <a:srgbClr val="15B078"/>
                </a:solidFill>
                <a:latin typeface="Inter"/>
              </a:rPr>
              <a:t>412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530352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5B078"/>
                </a:solidFill>
                <a:latin typeface="Inter"/>
              </a:rPr>
              <a:t>EXAMPLE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685800"/>
            <a:ext cx="5486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00000"/>
                </a:solidFill>
                <a:latin typeface="Inter"/>
              </a:rPr>
              <a:t>The Left-to-Right Trap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" y="1234440"/>
            <a:ext cx="36576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371600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9B9B9B"/>
                </a:solidFill>
                <a:latin typeface="Inter"/>
              </a:rP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1691640"/>
            <a:ext cx="3200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0">
                <a:solidFill>
                  <a:srgbClr val="333333"/>
                </a:solidFill>
                <a:latin typeface="Consolas"/>
              </a:rPr>
              <a:t>25 / 5 * 5 + 8 - 5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36592" y="1234440"/>
            <a:ext cx="1828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9B9B9B"/>
                </a:solidFill>
                <a:latin typeface="Inter"/>
              </a:rPr>
              <a:t>SOLUTION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36592" y="1554480"/>
            <a:ext cx="3648456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846320" y="1691640"/>
            <a:ext cx="228600" cy="228600"/>
          </a:xfrm>
          <a:prstGeom prst="ellipse">
            <a:avLst/>
          </a:prstGeom>
          <a:solidFill>
            <a:srgbClr val="15B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93792" y="1627632"/>
            <a:ext cx="3099816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333333"/>
                </a:solidFill>
                <a:latin typeface="Inter"/>
              </a:rPr>
              <a:t>M/D left to right: 25 / 5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93792" y="1847088"/>
            <a:ext cx="3099816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707070"/>
                </a:solidFill>
                <a:latin typeface="Consolas"/>
              </a:rPr>
              <a:t>5 * 5 + 8 - 5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36592" y="2194560"/>
            <a:ext cx="3648456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46320" y="2331720"/>
            <a:ext cx="228600" cy="228600"/>
          </a:xfrm>
          <a:prstGeom prst="ellipse">
            <a:avLst/>
          </a:prstGeom>
          <a:solidFill>
            <a:srgbClr val="15B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93792" y="2267712"/>
            <a:ext cx="3099816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333333"/>
                </a:solidFill>
                <a:latin typeface="Inter"/>
              </a:rPr>
              <a:t>Continue M/D: 5 *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93792" y="2487168"/>
            <a:ext cx="3099816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707070"/>
                </a:solidFill>
                <a:latin typeface="Consolas"/>
              </a:rPr>
              <a:t>25 + 8 - 5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36592" y="2834640"/>
            <a:ext cx="3648456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46320" y="2971800"/>
            <a:ext cx="228600" cy="228600"/>
          </a:xfrm>
          <a:prstGeom prst="ellipse">
            <a:avLst/>
          </a:prstGeom>
          <a:solidFill>
            <a:srgbClr val="15B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93792" y="2907792"/>
            <a:ext cx="3099816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333333"/>
                </a:solidFill>
                <a:latin typeface="Inter"/>
              </a:rPr>
              <a:t>A/S left to right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93792" y="3127248"/>
            <a:ext cx="3099816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707070"/>
                </a:solidFill>
                <a:latin typeface="Consolas"/>
              </a:rPr>
              <a:t>33 - 5 = </a:t>
            </a:r>
            <a:r>
              <a:rPr sz="1400" b="1">
                <a:solidFill>
                  <a:srgbClr val="15B078"/>
                </a:solidFill>
                <a:latin typeface="Consolas"/>
              </a:rPr>
              <a:t>28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36592" y="3566160"/>
            <a:ext cx="3648456" cy="457200"/>
          </a:xfrm>
          <a:prstGeom prst="roundRect">
            <a:avLst/>
          </a:prstGeom>
          <a:solidFill>
            <a:srgbClr val="15B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73752" y="3657600"/>
            <a:ext cx="3374136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Inter"/>
              </a:rPr>
              <a:t>Answer: </a:t>
            </a:r>
            <a:r>
              <a:rPr sz="1800" b="1">
                <a:solidFill>
                  <a:srgbClr val="15B078"/>
                </a:solidFill>
                <a:latin typeface="Inter"/>
              </a:rPr>
              <a:t>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530352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5B078"/>
                </a:solidFill>
                <a:latin typeface="Inter"/>
              </a:rPr>
              <a:t>EXAMPLE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685800"/>
            <a:ext cx="5486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00000"/>
                </a:solidFill>
                <a:latin typeface="Inter"/>
              </a:rPr>
              <a:t>Nested Grouping Symbols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" y="1234440"/>
            <a:ext cx="36576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371600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9B9B9B"/>
                </a:solidFill>
                <a:latin typeface="Inter"/>
              </a:rP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1691640"/>
            <a:ext cx="3200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0">
                <a:solidFill>
                  <a:srgbClr val="333333"/>
                </a:solidFill>
                <a:latin typeface="Consolas"/>
              </a:rPr>
              <a:t>4[6 + (6 / 2)^2] - 1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36592" y="1234440"/>
            <a:ext cx="1828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9B9B9B"/>
                </a:solidFill>
                <a:latin typeface="Inter"/>
              </a:rPr>
              <a:t>SOLUTION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36592" y="1554480"/>
            <a:ext cx="3648456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846320" y="1691640"/>
            <a:ext cx="228600" cy="228600"/>
          </a:xfrm>
          <a:prstGeom prst="ellipse">
            <a:avLst/>
          </a:prstGeom>
          <a:solidFill>
            <a:srgbClr val="15B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93792" y="1627632"/>
            <a:ext cx="3099816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333333"/>
                </a:solidFill>
                <a:latin typeface="Inter"/>
              </a:rPr>
              <a:t>Innermost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93792" y="1847088"/>
            <a:ext cx="3099816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707070"/>
                </a:solidFill>
                <a:latin typeface="Consolas"/>
              </a:rPr>
              <a:t>6 / 2 = 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36592" y="2194560"/>
            <a:ext cx="3648456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46320" y="2331720"/>
            <a:ext cx="228600" cy="228600"/>
          </a:xfrm>
          <a:prstGeom prst="ellipse">
            <a:avLst/>
          </a:prstGeom>
          <a:solidFill>
            <a:srgbClr val="15B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93792" y="2267712"/>
            <a:ext cx="3099816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333333"/>
                </a:solidFill>
                <a:latin typeface="Inter"/>
              </a:rPr>
              <a:t>Exponent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93792" y="2487168"/>
            <a:ext cx="3099816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707070"/>
                </a:solidFill>
                <a:latin typeface="Consolas"/>
              </a:rPr>
              <a:t>3^2 = 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36592" y="2834640"/>
            <a:ext cx="3648456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46320" y="2971800"/>
            <a:ext cx="228600" cy="228600"/>
          </a:xfrm>
          <a:prstGeom prst="ellipse">
            <a:avLst/>
          </a:prstGeom>
          <a:solidFill>
            <a:srgbClr val="15B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93792" y="2907792"/>
            <a:ext cx="3099816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333333"/>
                </a:solidFill>
                <a:latin typeface="Inter"/>
              </a:rPr>
              <a:t>Brackets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93792" y="3127248"/>
            <a:ext cx="3099816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707070"/>
                </a:solidFill>
                <a:latin typeface="Consolas"/>
              </a:rPr>
              <a:t>[6 + 9] = 15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36592" y="3474720"/>
            <a:ext cx="3648456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46320" y="3611880"/>
            <a:ext cx="228600" cy="228600"/>
          </a:xfrm>
          <a:prstGeom prst="ellipse">
            <a:avLst/>
          </a:prstGeom>
          <a:solidFill>
            <a:srgbClr val="15B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93792" y="3547872"/>
            <a:ext cx="3099816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333333"/>
                </a:solidFill>
                <a:latin typeface="Inter"/>
              </a:rPr>
              <a:t>Multiply, then subtract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93792" y="3767328"/>
            <a:ext cx="3099816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707070"/>
                </a:solidFill>
                <a:latin typeface="Consolas"/>
              </a:rPr>
              <a:t>4 * 15 = 60, then 60 - 1 = </a:t>
            </a:r>
            <a:r>
              <a:rPr sz="1400" b="1">
                <a:solidFill>
                  <a:srgbClr val="15B078"/>
                </a:solidFill>
                <a:latin typeface="Consolas"/>
              </a:rPr>
              <a:t>59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36592" y="4206240"/>
            <a:ext cx="3648456" cy="457200"/>
          </a:xfrm>
          <a:prstGeom prst="roundRect">
            <a:avLst/>
          </a:prstGeom>
          <a:solidFill>
            <a:srgbClr val="15B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73752" y="4297680"/>
            <a:ext cx="3374136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Inter"/>
              </a:rPr>
              <a:t>Answer: </a:t>
            </a:r>
            <a:r>
              <a:rPr sz="1800" b="1">
                <a:solidFill>
                  <a:srgbClr val="15B078"/>
                </a:solidFill>
                <a:latin typeface="Inter"/>
              </a:rPr>
              <a:t>59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530352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5B078"/>
                </a:solidFill>
                <a:latin typeface="Inter"/>
              </a:rPr>
              <a:t>QUICK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685800"/>
            <a:ext cx="5486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000000"/>
                </a:solidFill>
                <a:latin typeface="Inter"/>
              </a:rPr>
              <a:t>Sign Rules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" y="1234440"/>
            <a:ext cx="2523744" cy="502920"/>
          </a:xfrm>
          <a:prstGeom prst="rect">
            <a:avLst/>
          </a:prstGeom>
          <a:solidFill>
            <a:srgbClr val="113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1371600"/>
            <a:ext cx="217627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Inter"/>
              </a:rPr>
              <a:t>Operation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300984" y="1234440"/>
            <a:ext cx="2523744" cy="502920"/>
          </a:xfrm>
          <a:prstGeom prst="rect">
            <a:avLst/>
          </a:prstGeom>
          <a:solidFill>
            <a:srgbClr val="113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83864" y="1371600"/>
            <a:ext cx="217627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Inter"/>
              </a:rPr>
              <a:t>Same Signs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843016" y="1234440"/>
            <a:ext cx="2523744" cy="502920"/>
          </a:xfrm>
          <a:prstGeom prst="rect">
            <a:avLst/>
          </a:prstGeom>
          <a:solidFill>
            <a:srgbClr val="113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25896" y="1371600"/>
            <a:ext cx="217627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Inter"/>
              </a:rPr>
              <a:t>Different Signs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" y="1755648"/>
            <a:ext cx="2523744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1892808"/>
            <a:ext cx="217627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333333"/>
                </a:solidFill>
                <a:latin typeface="Inter"/>
              </a:rPr>
              <a:t>Add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00984" y="1755648"/>
            <a:ext cx="2523744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83864" y="1892808"/>
            <a:ext cx="217627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33333"/>
                </a:solidFill>
                <a:latin typeface="Inter"/>
              </a:rPr>
              <a:t>Add absolutes, keep sign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43016" y="1755648"/>
            <a:ext cx="2523744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25896" y="1892808"/>
            <a:ext cx="217627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33333"/>
                </a:solidFill>
                <a:latin typeface="Inter"/>
              </a:rPr>
              <a:t>Subtract absolutes, keep larger's sign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" y="2276856"/>
            <a:ext cx="2523744" cy="5029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2414016"/>
            <a:ext cx="217627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333333"/>
                </a:solidFill>
                <a:latin typeface="Inter"/>
              </a:rPr>
              <a:t>Subtract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00984" y="2276856"/>
            <a:ext cx="2523744" cy="5029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83864" y="2414016"/>
            <a:ext cx="217627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33333"/>
                </a:solidFill>
                <a:latin typeface="Inter"/>
              </a:rPr>
              <a:t>Convert to addition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43016" y="2276856"/>
            <a:ext cx="2523744" cy="5029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25896" y="2414016"/>
            <a:ext cx="217627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33333"/>
                </a:solidFill>
                <a:latin typeface="Inter"/>
              </a:rPr>
              <a:t>Convert to addition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" y="2798064"/>
            <a:ext cx="2523744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" y="2935224"/>
            <a:ext cx="217627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333333"/>
                </a:solidFill>
                <a:latin typeface="Inter"/>
              </a:rPr>
              <a:t>Multiply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00984" y="2798064"/>
            <a:ext cx="2523744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83864" y="2935224"/>
            <a:ext cx="217627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5B078"/>
                </a:solidFill>
                <a:latin typeface="Inter"/>
              </a:rPr>
              <a:t>Positive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3016" y="2798064"/>
            <a:ext cx="2523744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25896" y="2935224"/>
            <a:ext cx="217627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B5A42"/>
                </a:solidFill>
                <a:latin typeface="Inter"/>
              </a:rPr>
              <a:t>Negative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952" y="3319272"/>
            <a:ext cx="2523744" cy="5029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3456432"/>
            <a:ext cx="217627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333333"/>
                </a:solidFill>
                <a:latin typeface="Inter"/>
              </a:rPr>
              <a:t>Divide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00984" y="3319272"/>
            <a:ext cx="2523744" cy="5029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83864" y="3456432"/>
            <a:ext cx="217627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5B078"/>
                </a:solidFill>
                <a:latin typeface="Inter"/>
              </a:rPr>
              <a:t>Positive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43016" y="3319272"/>
            <a:ext cx="2523744" cy="5029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25896" y="3456432"/>
            <a:ext cx="2176272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B5A42"/>
                </a:solidFill>
                <a:latin typeface="Inter"/>
              </a:rPr>
              <a:t>Negative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530352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B5A42"/>
                </a:solidFill>
                <a:latin typeface="Inter"/>
              </a:rPr>
              <a:t>TRAPS TO AVOID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685800"/>
            <a:ext cx="5486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000000"/>
                </a:solidFill>
                <a:latin typeface="Inter"/>
              </a:rPr>
              <a:t>Three GRE Traps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" y="1234440"/>
            <a:ext cx="2420112" cy="2560320"/>
          </a:xfrm>
          <a:prstGeom prst="roundRect">
            <a:avLst/>
          </a:prstGeom>
          <a:solidFill>
            <a:srgbClr val="FEEDEB"/>
          </a:solidFill>
          <a:ln w="12700">
            <a:solidFill>
              <a:srgbClr val="FB5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41732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B5A42"/>
                </a:solidFill>
                <a:latin typeface="Inter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1920240"/>
            <a:ext cx="196291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333333"/>
                </a:solidFill>
                <a:latin typeface="Inter"/>
              </a:rPr>
              <a:t>The M/D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377440"/>
            <a:ext cx="1962912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707070"/>
                </a:solidFill>
                <a:latin typeface="Inter"/>
              </a:rPr>
              <a:t>Multiplication and division have EQUAL priority. Go left to right, not multiplication first.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1944" y="1234440"/>
            <a:ext cx="2420112" cy="2560320"/>
          </a:xfrm>
          <a:prstGeom prst="roundRect">
            <a:avLst/>
          </a:prstGeom>
          <a:solidFill>
            <a:srgbClr val="FEEDEB"/>
          </a:solidFill>
          <a:ln w="12700">
            <a:solidFill>
              <a:srgbClr val="FB5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0544" y="141732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B5A42"/>
                </a:solidFill>
                <a:latin typeface="Inter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0544" y="1920240"/>
            <a:ext cx="196291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333333"/>
                </a:solidFill>
                <a:latin typeface="Inter"/>
              </a:rPr>
              <a:t>Negative-Squared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0544" y="2377440"/>
            <a:ext cx="1962912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707070"/>
                </a:solidFill>
                <a:latin typeface="Inter"/>
              </a:rPr>
              <a:t>(-3)^2 = 9, but -3^2 = -9. Parentheses matter!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64936" y="1234440"/>
            <a:ext cx="2420112" cy="2560320"/>
          </a:xfrm>
          <a:prstGeom prst="roundRect">
            <a:avLst/>
          </a:prstGeom>
          <a:solidFill>
            <a:srgbClr val="FEEDEB"/>
          </a:solidFill>
          <a:ln w="12700">
            <a:solidFill>
              <a:srgbClr val="FB5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3536" y="141732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B5A42"/>
                </a:solidFill>
                <a:latin typeface="Inter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3536" y="1920240"/>
            <a:ext cx="196291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333333"/>
                </a:solidFill>
                <a:latin typeface="Inter"/>
              </a:rPr>
              <a:t>Division by Zero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3536" y="2377440"/>
            <a:ext cx="1962912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707070"/>
                </a:solidFill>
                <a:latin typeface="Inter"/>
              </a:rPr>
              <a:t>x / 0 is undefined, not zero. The GRE tests this.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" y="3977640"/>
            <a:ext cx="7626096" cy="457200"/>
          </a:xfrm>
          <a:prstGeom prst="roundRect">
            <a:avLst/>
          </a:prstGeom>
          <a:solidFill>
            <a:srgbClr val="113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069080"/>
            <a:ext cx="7260336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FFFFF"/>
                </a:solidFill>
                <a:latin typeface="Inter"/>
              </a:rPr>
              <a:t>Next up: Put these skills to work in the Order of Operations Drill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